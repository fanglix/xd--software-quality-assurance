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tags" Target="../tags/tag1.xml"/><Relationship Id="rId2" Type="http://schemas.microsoft.com/office/2007/relationships/media" Target="file:///C:/Users/Administrator/Downloads/QQ2026626-144629.mp4" TargetMode="External"/><Relationship Id="rId1" Type="http://schemas.openxmlformats.org/officeDocument/2006/relationships/video" Target="file:///C:/Users/Administrator/Downloads/QQ2026626-144629.mp4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450000"/>
            <a:ext cx="10800000" cy="680000"/>
          </a:xfrm>
        </p:spPr>
        <p:txBody>
          <a:bodyPr/>
          <a:lstStyle/>
          <a:p>
            <a:r>
              <a:rPr lang="zh-CN" sz="3300" b="1"/>
              <a:t>基于 LSTM 的时序感知模型对抗攻击与鲁棒性分析</a:t>
            </a:r>
            <a:endParaRPr lang="zh-CN" sz="3300" b="1"/>
          </a:p>
        </p:txBody>
      </p:sp>
      <p:sp>
        <p:nvSpPr>
          <p:cNvPr id="21" name="Bullet 1"/>
          <p:cNvSpPr/>
          <p:nvPr/>
        </p:nvSpPr>
        <p:spPr>
          <a:xfrm>
            <a:off x="900000" y="1500000"/>
            <a:ext cx="4200000" cy="480000"/>
          </a:xfrm>
        </p:spPr>
        <p:txBody>
          <a:bodyPr/>
          <a:lstStyle/>
          <a:p>
            <a:r>
              <a:rPr lang="zh-CN" sz="2200"/>
              <a:t>软件质量保障课程结题答辩</a:t>
            </a:r>
            <a:endParaRPr lang="zh-CN" sz="2200"/>
          </a:p>
        </p:txBody>
      </p:sp>
      <p:sp>
        <p:nvSpPr>
          <p:cNvPr id="22" name="Bullet 2"/>
          <p:cNvSpPr/>
          <p:nvPr/>
        </p:nvSpPr>
        <p:spPr>
          <a:xfrm>
            <a:off x="900000" y="2100000"/>
            <a:ext cx="4200000" cy="480000"/>
          </a:xfrm>
        </p:spPr>
        <p:txBody>
          <a:bodyPr/>
          <a:lstStyle/>
          <a:p>
            <a:r>
              <a:rPr lang="zh-CN" sz="2200"/>
              <a:t>数据集：真实 UCI HAR / Inertial Signals</a:t>
            </a:r>
            <a:endParaRPr lang="zh-CN" sz="2200"/>
          </a:p>
        </p:txBody>
      </p:sp>
      <p:sp>
        <p:nvSpPr>
          <p:cNvPr id="23" name="Bullet 3"/>
          <p:cNvSpPr/>
          <p:nvPr/>
        </p:nvSpPr>
        <p:spPr>
          <a:xfrm>
            <a:off x="900000" y="2700000"/>
            <a:ext cx="4200000" cy="480000"/>
          </a:xfrm>
        </p:spPr>
        <p:txBody>
          <a:bodyPr/>
          <a:lstStyle/>
          <a:p>
            <a:r>
              <a:rPr lang="zh-CN" sz="2200"/>
              <a:t>模型：PyTorch LSTM；任务：6 类人体行为识别</a:t>
            </a:r>
            <a:endParaRPr lang="zh-CN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450000"/>
            <a:ext cx="10800000" cy="680000"/>
          </a:xfrm>
        </p:spPr>
        <p:txBody>
          <a:bodyPr/>
          <a:lstStyle/>
          <a:p>
            <a:r>
              <a:rPr lang="zh-CN" sz="3300" b="1"/>
              <a:t>项目目标与质量保障问题</a:t>
            </a:r>
            <a:endParaRPr lang="zh-CN" sz="3300" b="1"/>
          </a:p>
        </p:txBody>
      </p:sp>
      <p:sp>
        <p:nvSpPr>
          <p:cNvPr id="21" name="Bullet 1"/>
          <p:cNvSpPr/>
          <p:nvPr/>
        </p:nvSpPr>
        <p:spPr>
          <a:xfrm>
            <a:off x="900000" y="1500000"/>
            <a:ext cx="4200000" cy="480000"/>
          </a:xfrm>
        </p:spPr>
        <p:txBody>
          <a:bodyPr/>
          <a:lstStyle/>
          <a:p>
            <a:r>
              <a:rPr lang="zh-CN" sz="2200"/>
              <a:t>问题：只看正常准确率不能反映 AI 模型稳定性</a:t>
            </a:r>
            <a:endParaRPr lang="zh-CN" sz="2200"/>
          </a:p>
        </p:txBody>
      </p:sp>
      <p:sp>
        <p:nvSpPr>
          <p:cNvPr id="22" name="Bullet 2"/>
          <p:cNvSpPr/>
          <p:nvPr/>
        </p:nvSpPr>
        <p:spPr>
          <a:xfrm>
            <a:off x="900000" y="2100000"/>
            <a:ext cx="4200000" cy="480000"/>
          </a:xfrm>
        </p:spPr>
        <p:txBody>
          <a:bodyPr/>
          <a:lstStyle/>
          <a:p>
            <a:r>
              <a:rPr lang="zh-CN" sz="2200"/>
              <a:t>目标：构造对抗样本测试时序模型鲁棒性</a:t>
            </a:r>
            <a:endParaRPr lang="zh-CN" sz="2200"/>
          </a:p>
        </p:txBody>
      </p:sp>
      <p:sp>
        <p:nvSpPr>
          <p:cNvPr id="23" name="Bullet 3"/>
          <p:cNvSpPr/>
          <p:nvPr/>
        </p:nvSpPr>
        <p:spPr>
          <a:xfrm>
            <a:off x="900000" y="2700000"/>
            <a:ext cx="4200000" cy="480000"/>
          </a:xfrm>
        </p:spPr>
        <p:txBody>
          <a:bodyPr/>
          <a:lstStyle/>
          <a:p>
            <a:r>
              <a:rPr lang="zh-CN" sz="2200"/>
              <a:t>指标：准确率、攻击成功率、预测变化率</a:t>
            </a:r>
            <a:endParaRPr lang="zh-CN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450000"/>
            <a:ext cx="10800000" cy="680000"/>
          </a:xfrm>
        </p:spPr>
        <p:txBody>
          <a:bodyPr/>
          <a:lstStyle/>
          <a:p>
            <a:r>
              <a:rPr lang="zh-CN" sz="3300" b="1"/>
              <a:t>数据集与模型实现</a:t>
            </a:r>
            <a:endParaRPr lang="zh-CN" sz="3300" b="1"/>
          </a:p>
        </p:txBody>
      </p:sp>
      <p:sp>
        <p:nvSpPr>
          <p:cNvPr id="21" name="Bullet 1"/>
          <p:cNvSpPr/>
          <p:nvPr/>
        </p:nvSpPr>
        <p:spPr>
          <a:xfrm>
            <a:off x="900000" y="1500000"/>
            <a:ext cx="4200000" cy="480000"/>
          </a:xfrm>
        </p:spPr>
        <p:txBody>
          <a:bodyPr/>
          <a:lstStyle/>
          <a:p>
            <a:r>
              <a:rPr lang="zh-CN" sz="2200"/>
              <a:t>输入：128 个时间步 × 9 个传感器通道</a:t>
            </a:r>
            <a:endParaRPr lang="zh-CN" sz="2200"/>
          </a:p>
        </p:txBody>
      </p:sp>
      <p:sp>
        <p:nvSpPr>
          <p:cNvPr id="22" name="Bullet 2"/>
          <p:cNvSpPr/>
          <p:nvPr/>
        </p:nvSpPr>
        <p:spPr>
          <a:xfrm>
            <a:off x="900000" y="2100000"/>
            <a:ext cx="4200000" cy="480000"/>
          </a:xfrm>
        </p:spPr>
        <p:txBody>
          <a:bodyPr/>
          <a:lstStyle/>
          <a:p>
            <a:r>
              <a:rPr lang="zh-CN" sz="2200"/>
              <a:t>训练：2400 条训练样本，900 条测试样本，6 epoch</a:t>
            </a:r>
            <a:endParaRPr lang="zh-CN" sz="2200"/>
          </a:p>
        </p:txBody>
      </p:sp>
      <p:sp>
        <p:nvSpPr>
          <p:cNvPr id="23" name="Bullet 3"/>
          <p:cNvSpPr/>
          <p:nvPr/>
        </p:nvSpPr>
        <p:spPr>
          <a:xfrm>
            <a:off x="900000" y="2700000"/>
            <a:ext cx="4200000" cy="480000"/>
          </a:xfrm>
        </p:spPr>
        <p:txBody>
          <a:bodyPr/>
          <a:lstStyle/>
          <a:p>
            <a:r>
              <a:rPr lang="zh-CN" sz="2200"/>
              <a:t>模型：LSTM hidden_dim=64，输出 6 类行为</a:t>
            </a:r>
            <a:endParaRPr lang="zh-CN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450000"/>
            <a:ext cx="10800000" cy="680000"/>
          </a:xfrm>
        </p:spPr>
        <p:txBody>
          <a:bodyPr/>
          <a:lstStyle/>
          <a:p>
            <a:r>
              <a:rPr lang="zh-CN" sz="3300" b="1"/>
              <a:t>攻击与改进方法</a:t>
            </a:r>
            <a:endParaRPr lang="zh-CN" sz="3300" b="1"/>
          </a:p>
        </p:txBody>
      </p:sp>
      <p:sp>
        <p:nvSpPr>
          <p:cNvPr id="21" name="Bullet 1"/>
          <p:cNvSpPr/>
          <p:nvPr/>
        </p:nvSpPr>
        <p:spPr>
          <a:xfrm>
            <a:off x="900000" y="1500000"/>
            <a:ext cx="4200000" cy="480000"/>
          </a:xfrm>
        </p:spPr>
        <p:txBody>
          <a:bodyPr/>
          <a:lstStyle/>
          <a:p>
            <a:r>
              <a:rPr lang="zh-CN" sz="2200"/>
              <a:t>FGSM：单步梯度符号攻击</a:t>
            </a:r>
            <a:endParaRPr lang="zh-CN" sz="2200"/>
          </a:p>
        </p:txBody>
      </p:sp>
      <p:sp>
        <p:nvSpPr>
          <p:cNvPr id="22" name="Bullet 2"/>
          <p:cNvSpPr/>
          <p:nvPr/>
        </p:nvSpPr>
        <p:spPr>
          <a:xfrm>
            <a:off x="900000" y="2100000"/>
            <a:ext cx="4200000" cy="480000"/>
          </a:xfrm>
        </p:spPr>
        <p:txBody>
          <a:bodyPr/>
          <a:lstStyle/>
          <a:p>
            <a:r>
              <a:rPr lang="zh-CN" sz="2200"/>
              <a:t>PGD：多步迭代攻击</a:t>
            </a:r>
            <a:endParaRPr lang="zh-CN" sz="2200"/>
          </a:p>
        </p:txBody>
      </p:sp>
      <p:sp>
        <p:nvSpPr>
          <p:cNvPr id="23" name="Bullet 3"/>
          <p:cNvSpPr/>
          <p:nvPr/>
        </p:nvSpPr>
        <p:spPr>
          <a:xfrm>
            <a:off x="900000" y="2700000"/>
            <a:ext cx="4200000" cy="480000"/>
          </a:xfrm>
        </p:spPr>
        <p:txBody>
          <a:bodyPr/>
          <a:lstStyle/>
          <a:p>
            <a:r>
              <a:rPr lang="zh-CN" sz="2200"/>
              <a:t>Attention-FGSM：只扰动高敏感时间步</a:t>
            </a:r>
            <a:endParaRPr lang="zh-CN" sz="2200"/>
          </a:p>
        </p:txBody>
      </p:sp>
      <p:sp>
        <p:nvSpPr>
          <p:cNvPr id="24" name="Bullet 4"/>
          <p:cNvSpPr/>
          <p:nvPr/>
        </p:nvSpPr>
        <p:spPr>
          <a:xfrm>
            <a:off x="900000" y="3300000"/>
            <a:ext cx="4200000" cy="480000"/>
          </a:xfrm>
        </p:spPr>
        <p:txBody>
          <a:bodyPr/>
          <a:lstStyle/>
          <a:p>
            <a:r>
              <a:rPr lang="zh-CN" sz="2200"/>
              <a:t>Smooth Defense：局部时序平滑防御对照</a:t>
            </a:r>
            <a:endParaRPr lang="zh-CN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450000"/>
            <a:ext cx="10800000" cy="680000"/>
          </a:xfrm>
        </p:spPr>
        <p:txBody>
          <a:bodyPr/>
          <a:lstStyle/>
          <a:p>
            <a:r>
              <a:rPr lang="zh-CN" sz="3300" b="1"/>
              <a:t>实验结果</a:t>
            </a:r>
            <a:endParaRPr lang="zh-CN" sz="3300" b="1"/>
          </a:p>
        </p:txBody>
      </p:sp>
      <p:sp>
        <p:nvSpPr>
          <p:cNvPr id="21" name="Bullet 1"/>
          <p:cNvSpPr/>
          <p:nvPr/>
        </p:nvSpPr>
        <p:spPr>
          <a:xfrm>
            <a:off x="900000" y="1500000"/>
            <a:ext cx="4200000" cy="480000"/>
          </a:xfrm>
        </p:spPr>
        <p:txBody>
          <a:bodyPr/>
          <a:lstStyle/>
          <a:p>
            <a:r>
              <a:rPr lang="zh-CN" sz="2200"/>
              <a:t>Clean：准确率 80.11%</a:t>
            </a:r>
            <a:endParaRPr lang="zh-CN" sz="2200"/>
          </a:p>
        </p:txBody>
      </p:sp>
      <p:sp>
        <p:nvSpPr>
          <p:cNvPr id="22" name="Bullet 2"/>
          <p:cNvSpPr/>
          <p:nvPr/>
        </p:nvSpPr>
        <p:spPr>
          <a:xfrm>
            <a:off x="900000" y="2100000"/>
            <a:ext cx="4200000" cy="480000"/>
          </a:xfrm>
        </p:spPr>
        <p:txBody>
          <a:bodyPr/>
          <a:lstStyle/>
          <a:p>
            <a:r>
              <a:rPr lang="zh-CN" sz="2200"/>
              <a:t>FGSM：准确率 60.67%，攻击成功率 39.33%</a:t>
            </a:r>
            <a:endParaRPr lang="zh-CN" sz="2200"/>
          </a:p>
        </p:txBody>
      </p:sp>
      <p:sp>
        <p:nvSpPr>
          <p:cNvPr id="23" name="Bullet 3"/>
          <p:cNvSpPr/>
          <p:nvPr/>
        </p:nvSpPr>
        <p:spPr>
          <a:xfrm>
            <a:off x="900000" y="2700000"/>
            <a:ext cx="4200000" cy="480000"/>
          </a:xfrm>
        </p:spPr>
        <p:txBody>
          <a:bodyPr/>
          <a:lstStyle/>
          <a:p>
            <a:r>
              <a:rPr lang="zh-CN" sz="2200"/>
              <a:t>PGD：准确率 59.78%，攻击成功率 40.22%</a:t>
            </a:r>
            <a:endParaRPr lang="zh-CN" sz="2200"/>
          </a:p>
        </p:txBody>
      </p:sp>
      <p:sp>
        <p:nvSpPr>
          <p:cNvPr id="24" name="Bullet 4"/>
          <p:cNvSpPr/>
          <p:nvPr/>
        </p:nvSpPr>
        <p:spPr>
          <a:xfrm>
            <a:off x="900000" y="3300000"/>
            <a:ext cx="4200000" cy="480000"/>
          </a:xfrm>
        </p:spPr>
        <p:txBody>
          <a:bodyPr/>
          <a:lstStyle/>
          <a:p>
            <a:r>
              <a:rPr lang="zh-CN" sz="2200"/>
              <a:t>Attention-FGSM：准确率 61.78%</a:t>
            </a:r>
            <a:endParaRPr lang="zh-CN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450000"/>
            <a:ext cx="10800000" cy="680000"/>
          </a:xfrm>
        </p:spPr>
        <p:txBody>
          <a:bodyPr/>
          <a:lstStyle/>
          <a:p>
            <a:r>
              <a:rPr lang="zh-CN" sz="3300" b="1"/>
              <a:t>项目操作视频</a:t>
            </a:r>
            <a:endParaRPr lang="zh-CN" sz="3300" b="1"/>
          </a:p>
        </p:txBody>
      </p:sp>
      <p:sp>
        <p:nvSpPr>
          <p:cNvPr id="8" name="VideoBox"/>
          <p:cNvSpPr/>
          <p:nvPr/>
        </p:nvSpPr>
        <p:spPr>
          <a:xfrm>
            <a:off x="820000" y="1550000"/>
            <a:ext cx="6100000" cy="3500000"/>
          </a:xfrm>
          <a:prstGeom prst="rect">
            <a:avLst/>
          </a:prstGeom>
          <a:solidFill>
            <a:srgbClr val="E0F2FE"/>
          </a:solidFill>
          <a:ln w="28575"/>
        </p:spPr>
        <p:txBody>
          <a:bodyPr anchor="ctr"/>
          <a:lstStyle/>
          <a:p>
            <a:pPr algn="ctr"/>
            <a:r>
              <a:rPr lang="zh-CN" sz="2600" b="1"/>
              <a:t>项目操作视频插入区</a:t>
            </a:r>
            <a:endParaRPr lang="zh-CN" sz="2600" b="1"/>
          </a:p>
          <a:p>
            <a:pPr algn="ctr"/>
            <a:r>
              <a:rPr lang="zh-CN" sz="1900"/>
              <a:t>录制完成后在 PowerPoint 中插入 mp4</a:t>
            </a:r>
            <a:endParaRPr lang="zh-CN" sz="1900"/>
          </a:p>
        </p:txBody>
      </p:sp>
      <p:sp>
        <p:nvSpPr>
          <p:cNvPr id="21" name="Bullet 1"/>
          <p:cNvSpPr/>
          <p:nvPr/>
        </p:nvSpPr>
        <p:spPr>
          <a:xfrm>
            <a:off x="7400000" y="1600000"/>
            <a:ext cx="4200000" cy="480000"/>
          </a:xfrm>
        </p:spPr>
        <p:txBody>
          <a:bodyPr/>
          <a:lstStyle/>
          <a:p>
            <a:r>
              <a:rPr lang="zh-CN" sz="2200"/>
              <a:t>展示 1：数据集目录和实验脚本</a:t>
            </a:r>
            <a:endParaRPr lang="zh-CN" sz="2200"/>
          </a:p>
        </p:txBody>
      </p:sp>
      <p:sp>
        <p:nvSpPr>
          <p:cNvPr id="22" name="Bullet 2"/>
          <p:cNvSpPr/>
          <p:nvPr/>
        </p:nvSpPr>
        <p:spPr>
          <a:xfrm>
            <a:off x="7400000" y="2200000"/>
            <a:ext cx="4200000" cy="480000"/>
          </a:xfrm>
        </p:spPr>
        <p:txBody>
          <a:bodyPr/>
          <a:lstStyle/>
          <a:p>
            <a:r>
              <a:rPr lang="zh-CN" sz="2200"/>
              <a:t>展示 2：运行录屏演示_一键运行.ps1</a:t>
            </a:r>
            <a:endParaRPr lang="zh-CN" sz="2200"/>
          </a:p>
        </p:txBody>
      </p:sp>
      <p:sp>
        <p:nvSpPr>
          <p:cNvPr id="23" name="Bullet 3"/>
          <p:cNvSpPr/>
          <p:nvPr/>
        </p:nvSpPr>
        <p:spPr>
          <a:xfrm>
            <a:off x="7400000" y="2800000"/>
            <a:ext cx="4200000" cy="480000"/>
          </a:xfrm>
        </p:spPr>
        <p:txBody>
          <a:bodyPr/>
          <a:lstStyle/>
          <a:p>
            <a:r>
              <a:rPr lang="zh-CN" sz="2200"/>
              <a:t>展示 3：查看 results_real.csv 和模型文件</a:t>
            </a:r>
            <a:endParaRPr lang="zh-CN" sz="2200"/>
          </a:p>
        </p:txBody>
      </p:sp>
      <p:sp>
        <p:nvSpPr>
          <p:cNvPr id="24" name="Bullet 4"/>
          <p:cNvSpPr/>
          <p:nvPr/>
        </p:nvSpPr>
        <p:spPr>
          <a:xfrm>
            <a:off x="7400000" y="3400000"/>
            <a:ext cx="4200000" cy="480000"/>
          </a:xfrm>
        </p:spPr>
        <p:txBody>
          <a:bodyPr/>
          <a:lstStyle/>
          <a:p>
            <a:endParaRPr lang="zh-CN" sz="2200"/>
          </a:p>
        </p:txBody>
      </p:sp>
      <p:pic>
        <p:nvPicPr>
          <p:cNvPr id="3" name="QQ2026626-144629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0105" y="1550035"/>
            <a:ext cx="6080760" cy="3500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450000"/>
            <a:ext cx="10800000" cy="680000"/>
          </a:xfrm>
        </p:spPr>
        <p:txBody>
          <a:bodyPr/>
          <a:lstStyle/>
          <a:p>
            <a:r>
              <a:rPr lang="zh-CN" sz="3300" b="1"/>
              <a:t>结论与不足</a:t>
            </a:r>
            <a:endParaRPr lang="zh-CN" sz="3300" b="1"/>
          </a:p>
        </p:txBody>
      </p:sp>
      <p:sp>
        <p:nvSpPr>
          <p:cNvPr id="21" name="Bullet 1"/>
          <p:cNvSpPr/>
          <p:nvPr/>
        </p:nvSpPr>
        <p:spPr>
          <a:xfrm>
            <a:off x="900000" y="1500000"/>
            <a:ext cx="4200000" cy="480000"/>
          </a:xfrm>
        </p:spPr>
        <p:txBody>
          <a:bodyPr/>
          <a:lstStyle/>
          <a:p>
            <a:r>
              <a:rPr lang="zh-CN" sz="2200"/>
              <a:t>结论：对抗扰动会明显降低 LSTM 分类准确率</a:t>
            </a:r>
            <a:endParaRPr lang="zh-CN" sz="2200"/>
          </a:p>
        </p:txBody>
      </p:sp>
      <p:sp>
        <p:nvSpPr>
          <p:cNvPr id="22" name="Bullet 2"/>
          <p:cNvSpPr/>
          <p:nvPr/>
        </p:nvSpPr>
        <p:spPr>
          <a:xfrm>
            <a:off x="900000" y="2100000"/>
            <a:ext cx="4200000" cy="480000"/>
          </a:xfrm>
        </p:spPr>
        <p:txBody>
          <a:bodyPr/>
          <a:lstStyle/>
          <a:p>
            <a:r>
              <a:rPr lang="zh-CN" sz="2200"/>
              <a:t>质量保障意义：AI 软件测试应加入鲁棒性指标</a:t>
            </a:r>
            <a:endParaRPr lang="zh-CN" sz="2200"/>
          </a:p>
        </p:txBody>
      </p:sp>
      <p:sp>
        <p:nvSpPr>
          <p:cNvPr id="23" name="Bullet 3"/>
          <p:cNvSpPr/>
          <p:nvPr/>
        </p:nvSpPr>
        <p:spPr>
          <a:xfrm>
            <a:off x="900000" y="2700000"/>
            <a:ext cx="4200000" cy="480000"/>
          </a:xfrm>
        </p:spPr>
        <p:txBody>
          <a:bodyPr/>
          <a:lstStyle/>
          <a:p>
            <a:r>
              <a:rPr lang="zh-CN" sz="2200"/>
              <a:t>不足：样本量和训练轮数为课堂复现做了限制</a:t>
            </a:r>
            <a:endParaRPr lang="zh-CN" sz="2200"/>
          </a:p>
        </p:txBody>
      </p:sp>
      <p:sp>
        <p:nvSpPr>
          <p:cNvPr id="24" name="Bullet 4"/>
          <p:cNvSpPr/>
          <p:nvPr/>
        </p:nvSpPr>
        <p:spPr>
          <a:xfrm>
            <a:off x="900000" y="3300000"/>
            <a:ext cx="4200000" cy="480000"/>
          </a:xfrm>
        </p:spPr>
        <p:txBody>
          <a:bodyPr/>
          <a:lstStyle/>
          <a:p>
            <a:r>
              <a:rPr lang="zh-CN" sz="2200"/>
              <a:t>后续：完整训练集、多随机种子、对抗训练</a:t>
            </a:r>
            <a:endParaRPr lang="zh-CN" sz="2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SQA">
  <a:themeElements>
    <a:clrScheme name="SQA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2563EB"/>
      </a:accent1>
      <a:accent2>
        <a:srgbClr val="059669"/>
      </a:accent2>
      <a:accent3>
        <a:srgbClr val="DC2626"/>
      </a:accent3>
      <a:accent4>
        <a:srgbClr val="EA580C"/>
      </a:accent4>
      <a:accent5>
        <a:srgbClr val="0891B2"/>
      </a:accent5>
      <a:accent6>
        <a:srgbClr val="7C3AED"/>
      </a:accent6>
      <a:hlink>
        <a:srgbClr val="FFFFFF"/>
      </a:hlink>
      <a:folHlink>
        <a:srgbClr val="FFFFFF"/>
      </a:folHlink>
    </a:clrScheme>
    <a:fontScheme name="SQA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QA">
      <a:fillStyleLst/>
      <a:lnStyleLst>
        <a:ln/>
        <a:ln/>
        <a:ln/>
      </a:lnStyleLst>
      <a:effectStyleLst/>
      <a:bgFillStyleLst/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WPS 演示</Application>
  <PresentationFormat/>
  <Paragraphs>65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</vt:lpstr>
      <vt:lpstr>SQA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過厾，侢見孒</cp:lastModifiedBy>
  <cp:revision>1</cp:revision>
  <dcterms:created xsi:type="dcterms:W3CDTF">2026-06-26T06:53:12Z</dcterms:created>
  <dcterms:modified xsi:type="dcterms:W3CDTF">2026-06-26T06:53:12Z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6A8FAC6FF4934BC6A2E0A9CBFCB1AE23_12</vt:lpwstr>
  </property>
  <property fmtid="{D5CDD505-2E9C-101B-9397-08002B2CF9AE}" pid="3" name="KSOProductBuildVer">
    <vt:lpwstr>2052-12.1.0.26895</vt:lpwstr>
  </property>
</Properties>
</file>